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06812083864620" /><Relationship Type="http://schemas.openxmlformats.org/officeDocument/2006/relationships/extended-properties" Target="/docProps/app.xml" Id="R77aaa3b5c7fb4d92" /><Relationship Type="http://schemas.openxmlformats.org/officeDocument/2006/relationships/officeDocument" Target="/ppt/presentation.xml" Id="Rb5844299c5ff43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bf55314064fed"/>
  </p:sldMasterIdLst>
  <p:notesMasterIdLst>
    <p:notesMasterId xmlns:r="http://schemas.openxmlformats.org/officeDocument/2006/relationships" r:id="Ra74b8c0b31cc4eea"/>
  </p:notesMasterIdLst>
  <p:sldIdLst>
    <p:sldId xmlns:r="http://schemas.openxmlformats.org/officeDocument/2006/relationships" id="256" r:id="Rb22d0e460ed34234"/>
    <p:sldId xmlns:r="http://schemas.openxmlformats.org/officeDocument/2006/relationships" id="257" r:id="R2649635d980943d0"/>
    <p:sldId xmlns:r="http://schemas.openxmlformats.org/officeDocument/2006/relationships" id="258" r:id="Ree28b65537d041a1"/>
    <p:sldId xmlns:r="http://schemas.openxmlformats.org/officeDocument/2006/relationships" id="259" r:id="Rd5472e0b31d34273"/>
    <p:sldId xmlns:r="http://schemas.openxmlformats.org/officeDocument/2006/relationships" id="260" r:id="Re7a300a76fda452e"/>
    <p:sldId xmlns:r="http://schemas.openxmlformats.org/officeDocument/2006/relationships" id="261" r:id="R40739101b60443bb"/>
    <p:sldId xmlns:r="http://schemas.openxmlformats.org/officeDocument/2006/relationships" id="262" r:id="Rbffa02e2dcd14a4a"/>
    <p:sldId xmlns:r="http://schemas.openxmlformats.org/officeDocument/2006/relationships" id="263" r:id="Re748c01ac2e34fe2"/>
    <p:sldId xmlns:r="http://schemas.openxmlformats.org/officeDocument/2006/relationships" id="264" r:id="Rdee24091878b40a9"/>
    <p:sldId xmlns:r="http://schemas.openxmlformats.org/officeDocument/2006/relationships" id="265" r:id="R0442bc7c88cc43d3"/>
    <p:sldId xmlns:r="http://schemas.openxmlformats.org/officeDocument/2006/relationships" id="266" r:id="Rc52bc655d65b40ed"/>
    <p:sldId xmlns:r="http://schemas.openxmlformats.org/officeDocument/2006/relationships" id="267" r:id="R65a7c1d01dd647e0"/>
    <p:sldId xmlns:r="http://schemas.openxmlformats.org/officeDocument/2006/relationships" id="268" r:id="R352b1030a7ee49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b3fd30fa3645c3" /><Relationship Type="http://schemas.openxmlformats.org/officeDocument/2006/relationships/slideMaster" Target="/ppt/slideMasters/slideMaster1.xml" Id="R0b6bf55314064fed" /><Relationship Type="http://schemas.openxmlformats.org/officeDocument/2006/relationships/notesMaster" Target="/ppt/notesMasters/notesMaster1.xml" Id="Ra74b8c0b31cc4eea" /><Relationship Type="http://schemas.openxmlformats.org/officeDocument/2006/relationships/presProps" Target="/ppt/presProps.xml" Id="Rb86f5b85cf8048ff" /><Relationship Type="http://schemas.openxmlformats.org/officeDocument/2006/relationships/tableStyles" Target="/ppt/tableStyles.xml" Id="R33e4cb89240f43ce" /><Relationship Type="http://schemas.openxmlformats.org/officeDocument/2006/relationships/slide" Target="/ppt/slides/slide1.xml" Id="Rb22d0e460ed34234" /><Relationship Type="http://schemas.openxmlformats.org/officeDocument/2006/relationships/slide" Target="/ppt/slides/slide2.xml" Id="R2649635d980943d0" /><Relationship Type="http://schemas.openxmlformats.org/officeDocument/2006/relationships/slide" Target="/ppt/slides/slide3.xml" Id="Ree28b65537d041a1" /><Relationship Type="http://schemas.openxmlformats.org/officeDocument/2006/relationships/slide" Target="/ppt/slides/slide4.xml" Id="Rd5472e0b31d34273" /><Relationship Type="http://schemas.openxmlformats.org/officeDocument/2006/relationships/slide" Target="/ppt/slides/slide5.xml" Id="Re7a300a76fda452e" /><Relationship Type="http://schemas.openxmlformats.org/officeDocument/2006/relationships/slide" Target="/ppt/slides/slide6.xml" Id="R40739101b60443bb" /><Relationship Type="http://schemas.openxmlformats.org/officeDocument/2006/relationships/slide" Target="/ppt/slides/slide7.xml" Id="Rbffa02e2dcd14a4a" /><Relationship Type="http://schemas.openxmlformats.org/officeDocument/2006/relationships/slide" Target="/ppt/slides/slide8.xml" Id="Re748c01ac2e34fe2" /><Relationship Type="http://schemas.openxmlformats.org/officeDocument/2006/relationships/slide" Target="/ppt/slides/slide9.xml" Id="Rdee24091878b40a9" /><Relationship Type="http://schemas.openxmlformats.org/officeDocument/2006/relationships/slide" Target="/ppt/slides/slide10.xml" Id="R0442bc7c88cc43d3" /><Relationship Type="http://schemas.openxmlformats.org/officeDocument/2006/relationships/slide" Target="/ppt/slides/slide11.xml" Id="Rc52bc655d65b40ed" /><Relationship Type="http://schemas.openxmlformats.org/officeDocument/2006/relationships/slide" Target="/ppt/slides/slide12.xml" Id="R65a7c1d01dd647e0" /><Relationship Type="http://schemas.openxmlformats.org/officeDocument/2006/relationships/slide" Target="/ppt/slides/slide13.xml" Id="R352b1030a7ee49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505ba7e3374c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f0f44173746a7" /><Relationship Type="http://schemas.openxmlformats.org/officeDocument/2006/relationships/notesMaster" Target="/ppt/notesMasters/notesMaster1.xml" Id="R1864f7037c3644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6f4f219b034234" /><Relationship Type="http://schemas.openxmlformats.org/officeDocument/2006/relationships/notesMaster" Target="/ppt/notesMasters/notesMaster1.xml" Id="R511e05d4e0f444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14065352c4441" /><Relationship Type="http://schemas.openxmlformats.org/officeDocument/2006/relationships/notesMaster" Target="/ppt/notesMasters/notesMaster1.xml" Id="R863102bc72534f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1a37421e74373" /><Relationship Type="http://schemas.openxmlformats.org/officeDocument/2006/relationships/notesMaster" Target="/ppt/notesMasters/notesMaster1.xml" Id="Rebfa5cbac4c14b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385f25ac1b4867" /><Relationship Type="http://schemas.openxmlformats.org/officeDocument/2006/relationships/notesMaster" Target="/ppt/notesMasters/notesMaster1.xml" Id="Ra1791985a0dd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6341858f694db2" /><Relationship Type="http://schemas.openxmlformats.org/officeDocument/2006/relationships/notesMaster" Target="/ppt/notesMasters/notesMaster1.xml" Id="R4b432cabd27a4b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6237e76c64d3c" /><Relationship Type="http://schemas.openxmlformats.org/officeDocument/2006/relationships/notesMaster" Target="/ppt/notesMasters/notesMaster1.xml" Id="Rff436c07b3ae4a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05596dcd534050" /><Relationship Type="http://schemas.openxmlformats.org/officeDocument/2006/relationships/notesMaster" Target="/ppt/notesMasters/notesMaster1.xml" Id="R312ab84843d149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f595a8f61f4f9d" /><Relationship Type="http://schemas.openxmlformats.org/officeDocument/2006/relationships/notesMaster" Target="/ppt/notesMasters/notesMaster1.xml" Id="Re2eb3ce706b94c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c4b787a0de4249" /><Relationship Type="http://schemas.openxmlformats.org/officeDocument/2006/relationships/notesMaster" Target="/ppt/notesMasters/notesMaster1.xml" Id="Rcd97dfc2da5c4b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7d72014586445f" /><Relationship Type="http://schemas.openxmlformats.org/officeDocument/2006/relationships/notesMaster" Target="/ppt/notesMasters/notesMaster1.xml" Id="R90c08f4ac84f4b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066bb54684496c" /><Relationship Type="http://schemas.openxmlformats.org/officeDocument/2006/relationships/notesMaster" Target="/ppt/notesMasters/notesMaster1.xml" Id="R6033862df7a345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d78bd3d5204440" /><Relationship Type="http://schemas.openxmlformats.org/officeDocument/2006/relationships/notesMaster" Target="/ppt/notesMasters/notesMaster1.xml" Id="R02e58ae4a3af4e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开场先定性：这不是一个画图功能，而是一个从规格、编译、执行到搜索的闭环系统。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THESIS_MVP.md</a:t>
            </a:r>
          </a:p>
          <a:p xmlns:a="http://schemas.openxmlformats.org/drawingml/2006/main">
            <a:r>
              <a:t>- packages/ui/src/views/metaagent/useAutopilotRun.js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用左右对照解释为什么要引入 IR、模拟环境和搜索，而不是继续修补 one-shot generator。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packages/components/src/agentflowv2Generator.ts</a:t>
            </a:r>
          </a:p>
          <a:p xmlns:a="http://schemas.openxmlformats.org/drawingml/2006/main">
            <a:r>
              <a:t>- packages/server/src/services/agentflowv2-generator/studioService.ts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这三项分别对应实验环境、评价函数和搜索空间；缺一项都不能形成可靠的自动优化闭环。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THESIS_MVP.md</a:t>
            </a:r>
          </a:p>
          <a:p xmlns:a="http://schemas.openxmlformats.org/drawingml/2006/main">
            <a:r>
              <a:t>- packages/server/src/services/agentflowv2-generator/mockToolCompiler.ts</a:t>
            </a:r>
          </a:p>
          <a:p xmlns:a="http://schemas.openxmlformats.org/drawingml/2006/main">
            <a:r>
              <a:t>- packages/server/src/services/agentflowv2-generator/assertions.ts</a:t>
            </a:r>
          </a:p>
          <a:p xmlns:a="http://schemas.openxmlformats.org/drawingml/2006/main">
            <a:r>
              <a:t>- packages/server/src/services/agentflowv2-generator/crewIR.ts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按实际前端控制器的顺序讲解。强调用户在 Contract 和 Crew 阶段可以编辑，搜索只在 dev split 上进行。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packages/ui/src/views/metaagent/useAutopilotRun.js</a:t>
            </a:r>
          </a:p>
          <a:p xmlns:a="http://schemas.openxmlformats.org/drawingml/2006/main">
            <a:r>
              <a:t>- packages/server/src/controllers/agentflowv2-generator/index.ts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Fixtures 只确定化业务工具世界；模型调用仍访问模型供应商，整个 Agent 输出不保证完全确定。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packages/server/src/services/agentflowv2-generator/mockToolCompiler.ts</a:t>
            </a:r>
          </a:p>
          <a:p xmlns:a="http://schemas.openxmlformats.org/drawingml/2006/main">
            <a:r>
              <a:t>- packages/server/src/services/agentflowv2-generator/mockToolStore.ts</a:t>
            </a:r>
          </a:p>
          <a:p xmlns:a="http://schemas.openxmlformats.org/drawingml/2006/main">
            <a:r>
              <a:t>- packages/server/src/services/agentflowv2-generator/studioSchemas.ts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IR 的价值是隔离不稳定的语言生成与严格的运行时格式。CrewIR 本身可编辑、可 hash、可 diff、可施加 operator。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packages/server/src/services/agentflowv2-generator/studioSchemas.ts</a:t>
            </a:r>
          </a:p>
          <a:p xmlns:a="http://schemas.openxmlformats.org/drawingml/2006/main">
            <a:r>
              <a:t>- packages/server/src/services/agentflowv2-generator/crewIR.ts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 deterministic compiler 是核心工程贡献：同一个 normalized CrewIR 总会生成同一张 AgentFlow 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packages/server/src/services/agentflowv2-generator/crewIR.ts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举订单例子说明 rubric-only evaluator 的盲点：它看不到真实工具轨迹。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packages/server/src/services/agentflowv2-generator/assertions.ts</a:t>
            </a:r>
          </a:p>
          <a:p xmlns:a="http://schemas.openxmlformats.org/drawingml/2006/main">
            <a:r>
              <a:t>- packages/server/src/services/agentflowv2-generator/studioService.ts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搜索证据全部来自实际运行：pass rate、失败断言、未调用工具、执行错误、成本和延迟。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packages/server/src/services/agentflowv2-generator/crewOperators.ts</a:t>
            </a:r>
          </a:p>
          <a:p xmlns:a="http://schemas.openxmlformats.org/drawingml/2006/main">
            <a:r>
              <a:t>- packages/server/src/services/agentflowv2-generator/crewSearch.ts</a:t>
            </a:r>
          </a:p>
          <a:p xmlns:a="http://schemas.openxmlformats.org/drawingml/2006/main">
            <a:r>
              <a:t>- packages/ui/src/views/metaagent/studioUtils.js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并行状态合并采用 base snapshot + delta merge；同一 key 出现不同写入时显式报冲突，而不是静默 last-writer-wins。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packages/components/nodes/agentflow/Agent/Agent.ts</a:t>
            </a:r>
          </a:p>
          <a:p xmlns:a="http://schemas.openxmlformats.org/drawingml/2006/main">
            <a:r>
              <a:t>- packages/components/nodes/agentflow/LLM/LLM.ts</a:t>
            </a:r>
          </a:p>
          <a:p xmlns:a="http://schemas.openxmlformats.org/drawingml/2006/main">
            <a:r>
              <a:t>- packages/components/src/utils.ts</a:t>
            </a:r>
          </a:p>
          <a:p xmlns:a="http://schemas.openxmlformats.org/drawingml/2006/main">
            <a:r>
              <a:t>- packages/server/src/utils/agentflowParallelScheduler.ts</a:t>
            </a:r>
          </a:p>
          <a:p xmlns:a="http://schemas.openxmlformats.org/drawingml/2006/main">
            <a:r>
              <a:t>- packages/ui/src/views/metaagent/useAutopilotRun.js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这些数字来自本地刚刚运行的测试，不是预计值。说明集成脚本使用真实 NodesPool、真实 Custom Tool sandbox 和真实节点 input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packages/server/src/services/agentflowv2-generator/*.test.ts</a:t>
            </a:r>
          </a:p>
          <a:p xmlns:a="http://schemas.openxmlformats.org/drawingml/2006/main">
            <a:r>
              <a:t>- packages/server/src/utils/agentflowParallelScheduler.test.ts</a:t>
            </a:r>
          </a:p>
          <a:p xmlns:a="http://schemas.openxmlformats.org/drawingml/2006/main">
            <a:r>
              <a:t>- packages/ui/src/views/metaagent/studioUtils.test.js</a:t>
            </a:r>
          </a:p>
          <a:p xmlns:a="http://schemas.openxmlformats.org/drawingml/2006/main">
            <a:r>
              <a:t>- packages/server/scripts/verify-autopilot-pipeline.js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主动报告限制可以让导师看到研究边界和下一阶段实验设计。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packages/server/src/services/agentflowv2-generator/crewOperators.ts</a:t>
            </a:r>
          </a:p>
          <a:p xmlns:a="http://schemas.openxmlformats.org/drawingml/2006/main">
            <a:r>
              <a:t>- packages/server/src/services/agentflowv2-generator/crewSearch.ts</a:t>
            </a:r>
          </a:p>
          <a:p xmlns:a="http://schemas.openxmlformats.org/drawingml/2006/main">
            <a:r>
              <a:t>- packages/server/src/services/agentflowv2-generator/crewIR.ts</a:t>
            </a:r>
          </a:p>
          <a:p xmlns:a="http://schemas.openxmlformats.org/drawingml/2006/main">
            <a:r>
              <a:t>- packages/server/src/utils/buildAgentflow.ts</a:t>
            </a:r>
          </a:p>
          <a:p xmlns:a="http://schemas.openxmlformats.org/drawingml/2006/main">
            <a:r>
              <a:t>- packages/ui/src/views/metaagent/useAutopilotRun.js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收束到论文式主张：系统贡献是一个可编译、可验证、可优化的 Agent workflow lifecycle。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THESIS_MVP.md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19745ab2543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736f333df4da1" /><Relationship Type="http://schemas.openxmlformats.org/officeDocument/2006/relationships/slideLayout" Target="/ppt/slideLayouts/slideLayout1.xml" Id="Rd89108c0811141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108c08111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1174f2c9d41d5" /><Relationship Type="http://schemas.openxmlformats.org/officeDocument/2006/relationships/notesSlide" Target="/ppt/notesSlides/notesSlide1.xml" Id="R2f4e6faaa78d40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411fab6ed4ba8" /><Relationship Type="http://schemas.openxmlformats.org/officeDocument/2006/relationships/notesSlide" Target="/ppt/notesSlides/notesSlide2.xml" Id="R803accc847b4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4a204c72f4200" /><Relationship Type="http://schemas.openxmlformats.org/officeDocument/2006/relationships/notesSlide" Target="/ppt/notesSlides/notesSlide3.xml" Id="Rb6505e93dcd344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4aa785fd4a7c" /><Relationship Type="http://schemas.openxmlformats.org/officeDocument/2006/relationships/notesSlide" Target="/ppt/notesSlides/notesSlide4.xml" Id="R3eadcd6c612540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646736e8947db" /><Relationship Type="http://schemas.openxmlformats.org/officeDocument/2006/relationships/notesSlide" Target="/ppt/notesSlides/notesSlide5.xml" Id="Rbc38e0d6717e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33678e8b6482f" /><Relationship Type="http://schemas.openxmlformats.org/officeDocument/2006/relationships/notesSlide" Target="/ppt/notesSlides/notesSlide6.xml" Id="R6014890fa5734c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2750d1eb2448e" /><Relationship Type="http://schemas.openxmlformats.org/officeDocument/2006/relationships/notesSlide" Target="/ppt/notesSlides/notesSlide7.xml" Id="R764ea89b523f44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25fccc16a4986" /><Relationship Type="http://schemas.openxmlformats.org/officeDocument/2006/relationships/notesSlide" Target="/ppt/notesSlides/notesSlide8.xml" Id="R1ad33cb80ad14d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924d932ea4420" /><Relationship Type="http://schemas.openxmlformats.org/officeDocument/2006/relationships/notesSlide" Target="/ppt/notesSlides/notesSlide9.xml" Id="R7e170488ac94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e4bc6f0a8405e" /><Relationship Type="http://schemas.openxmlformats.org/officeDocument/2006/relationships/notesSlide" Target="/ppt/notesSlides/notesSlide10.xml" Id="Ra5918ff5f48c49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80e95f07741e0" /><Relationship Type="http://schemas.openxmlformats.org/officeDocument/2006/relationships/notesSlide" Target="/ppt/notesSlides/notesSlide11.xml" Id="Rf82cd8fc3d78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1c1dba8224f3b" /><Relationship Type="http://schemas.openxmlformats.org/officeDocument/2006/relationships/notesSlide" Target="/ppt/notesSlides/notesSlide12.xml" Id="Rfd97afc9e5d445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5c6a4cd232463e" /><Relationship Type="http://schemas.openxmlformats.org/officeDocument/2006/relationships/notesSlide" Target="/ppt/notesSlides/notesSlide13.xml" Id="R5033496c5fd54d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D4AA5C7-E0AF-444D-A8ED-72448E80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THESIS IMPLEMENTATION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A97BA28-B9F6-47C1-A5AD-E3D3AD13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Autopilot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3C6E5F-6C89-4869-B95B-B20C216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从自然语言目标到可验证、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可优化的 AgentFlow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E621A4-2373-447A-9EBC-23AB5F0A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基于 Flowise 的 CrewIR 编译、模拟环境、</a:t>
            </a:r>
          </a:p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自动评测与结构化搜索闭环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83072-D89A-4A65-BD9D-22061FD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9CB20B-9804-4B22-A20B-77DEB2D9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导师汇报 · Implementation Review</a:t>
            </a:r>
          </a:p>
        </p:txBody>
      </p:sp>
      <p:sp>
        <p:nvSpPr>
          <p:cNvPr id="7" name="cover-visual-field">
            <a:extLst xmlns:a="http://schemas.openxmlformats.org/drawingml/2006/main">
              <a:ext uri="{FF2B5EF4-FFF2-40B4-BE49-F238E27FC236}">
                <a16:creationId xmlns:a16="http://schemas.microsoft.com/office/drawing/2014/main" id="{0ADA8F67-C6A3-4E4C-B511-93826908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00700" cy="56007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goal">
            <a:extLst xmlns:a="http://schemas.openxmlformats.org/drawingml/2006/main">
              <a:ext uri="{FF2B5EF4-FFF2-40B4-BE49-F238E27FC236}">
                <a16:creationId xmlns:a16="http://schemas.microsoft.com/office/drawing/2014/main" id="{73E13A15-0967-46E0-9D9D-A53BCA3E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90600"/>
            <a:ext cx="1714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CC36B2-E6C0-4EFF-B100-76B2D5DA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1811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自然语言目标</a:t>
            </a:r>
          </a:p>
        </p:txBody>
      </p:sp>
      <p:sp>
        <p:nvSpPr>
          <p:cNvPr id="10" name="contract">
            <a:extLst xmlns:a="http://schemas.openxmlformats.org/drawingml/2006/main">
              <a:ext uri="{FF2B5EF4-FFF2-40B4-BE49-F238E27FC236}">
                <a16:creationId xmlns:a16="http://schemas.microsoft.com/office/drawing/2014/main" id="{1C3EB51F-3963-40E0-B807-2CED8A7D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90600"/>
            <a:ext cx="200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356D7E6-E603-4657-A84F-4D626CEF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1811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6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Contract + Fixtures</a:t>
            </a:r>
          </a:p>
        </p:txBody>
      </p:sp>
      <p:sp>
        <p:nvSpPr>
          <p:cNvPr id="12" name="crewir">
            <a:extLst xmlns:a="http://schemas.openxmlformats.org/drawingml/2006/main">
              <a:ext uri="{FF2B5EF4-FFF2-40B4-BE49-F238E27FC236}">
                <a16:creationId xmlns:a16="http://schemas.microsoft.com/office/drawing/2014/main" id="{903802FE-B0C9-436D-B4C9-FDBF733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1714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1F7147-6081-448F-99F6-C6195F32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CrewIR</a:t>
            </a:r>
          </a:p>
        </p:txBody>
      </p:sp>
      <p:sp>
        <p:nvSpPr>
          <p:cNvPr id="14" name="agentflow">
            <a:extLst xmlns:a="http://schemas.openxmlformats.org/drawingml/2006/main">
              <a:ext uri="{FF2B5EF4-FFF2-40B4-BE49-F238E27FC236}">
                <a16:creationId xmlns:a16="http://schemas.microsoft.com/office/drawing/2014/main" id="{FC96B668-E2C1-420D-A372-1E92CF23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200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5FCE3C-C5DA-4DB8-B197-6370C6D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194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AgentFlow V2</a:t>
            </a:r>
          </a:p>
        </p:txBody>
      </p:sp>
      <p:sp>
        <p:nvSpPr>
          <p:cNvPr id="16" name="evaluation">
            <a:extLst xmlns:a="http://schemas.openxmlformats.org/drawingml/2006/main">
              <a:ext uri="{FF2B5EF4-FFF2-40B4-BE49-F238E27FC236}">
                <a16:creationId xmlns:a16="http://schemas.microsoft.com/office/drawing/2014/main" id="{5C23D929-E46E-4F29-9C23-DBB6EB93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1714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2E89B55-36C1-4203-8854-54E16854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577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执行 + 评测</a:t>
            </a:r>
          </a:p>
        </p:txBody>
      </p:sp>
      <p:sp>
        <p:nvSpPr>
          <p:cNvPr id="18" name="search">
            <a:extLst xmlns:a="http://schemas.openxmlformats.org/drawingml/2006/main">
              <a:ext uri="{FF2B5EF4-FFF2-40B4-BE49-F238E27FC236}">
                <a16:creationId xmlns:a16="http://schemas.microsoft.com/office/drawing/2014/main" id="{EA4B0E29-66CC-41AB-9679-B8D2AE0E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67200"/>
            <a:ext cx="2000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091C8F9-4DA6-47D3-BA1C-A0F98CDA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577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Operator Search</a:t>
            </a:r>
          </a:p>
        </p:txBody>
      </p: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382000" y="13335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7524750" y="1676400"/>
            <a:ext cx="24860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82000" y="29718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7524750" y="3314700"/>
            <a:ext cx="2486025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382000" y="46101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8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rot="16200000" flipH="1">
            <a:off x="8291513" y="2547938"/>
            <a:ext cx="952500" cy="24860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7874987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EE90C4D9-B611-4D32-9A50-DE0AA34F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7EF8A-274A-4614-B6D7-17EFA4FF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一次性生成解决不了“可靠性”和“可比较性”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05273-8F24-43CF-BF7B-75FF4CC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13852A6-E178-409C-9070-5E1A07C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3473D37-533F-416A-84C9-F3A9AF4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原始范式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F9CBBE5-51FD-41A0-A74A-F768C81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Goal → LLM → nodes / edges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4C17E46-F834-4970-8354-0D2C0DC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模型同时承担业务理解与 Flowise 图格式细节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一个 handle、变量路径或模型绑定错误即可导致运行失败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生成后没有确定性测试世界，也没有统一质量门槛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每次重生成都是新的猜测，难以复现、比较和消融</a:t>
            </a:r>
          </a:p>
        </p:txBody>
      </p:sp>
      <p:sp>
        <p:nvSpPr>
          <p:cNvPr id="8" name="closed-loop-field">
            <a:extLst xmlns:a="http://schemas.openxmlformats.org/drawingml/2006/main">
              <a:ext uri="{FF2B5EF4-FFF2-40B4-BE49-F238E27FC236}">
                <a16:creationId xmlns:a16="http://schemas.microsoft.com/office/drawing/2014/main" id="{DC5A05C2-CC4E-4F36-993E-225DF95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56959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4DF00E-B768-41D3-90C9-D7163E06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62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重写后的范式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436070-1796-4DE7-BED1-40E2C771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43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Specification → Compile → Measure → Search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F7D7327-AEBC-4EA9-AB14-193F1983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LLM 负责语义设计，程序负责结构合法性与执行格式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每个候选都在同一组 fixtures 和验收用例上运行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优化单位是 typed operator，而不是整图重新生成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输出是证据：轨迹、工具调用、得分、成本与延迟</a:t>
            </a:r>
          </a:p>
        </p:txBody>
      </p:sp>
    </p:spTree>
    <p:extLst>
      <p:ext uri="{BB962C8B-B14F-4D97-AF65-F5344CB8AC3E}">
        <p14:creationId xmlns:p14="http://schemas.microsoft.com/office/powerpoint/2010/main" val="2138256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D56F917-0485-4A48-9FC4-782EC519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0A990D-1870-4E28-AB62-CAE2EC64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F3D8F-15C6-4740-BCC7-C3E95A14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60D352B-3D52-4E99-BB43-ACAC65A6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48B5EA-10B9-429D-942D-E9197073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系统的三个支柱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5F602F-4D8D-4D50-81F7-415AF66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874B7-4010-4A21-8D9A-06EAFC7D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ED5177-604D-41C3-82FD-73AB461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确定性模拟环境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47C0D9A-28DE-4E48-8DD4-A1C1F8EA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181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工具规范被编译为纯 fixture lookup。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无真实业务凭据、无真实副作用；已知事实、故障和 not-found 都可重复回放。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2E71DE1-CCC9-475C-BB9C-849E175E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C52AC-7049-46E0-8622-096A7B1C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7D0C3E7-C61D-4128-B24B-A6707CB7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双层自动评测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4DD90E-CC3D-493D-BA28-A05066D5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181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程序断言检查工具调用与事实依据；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LLM rubric 只评估完整性、正确性、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安全性与可用性。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FFD259C-657E-40F8-8915-8ED4D0E3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52CBD-AFF6-4D29-9ED0-73FAF039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384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7D6D188-FDCB-4A58-8F9C-732ED7FA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3181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4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CrewIR + Operator Search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CDFFF5-35EE-47E2-B43C-F32A1FAC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181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模型只输出 Agents、Tasks 与依赖；</a:t>
            </a:r>
          </a:p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编译器生成 Flowise 图，搜索对 IR 施加合法、可复现的结构化变换。</a:t>
            </a:r>
          </a:p>
        </p:txBody>
      </p:sp>
    </p:spTree>
    <p:extLst>
      <p:ext uri="{BB962C8B-B14F-4D97-AF65-F5344CB8AC3E}">
        <p14:creationId xmlns:p14="http://schemas.microsoft.com/office/powerpoint/2010/main" val="2101913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eyebrow">
            <a:extLst xmlns:a="http://schemas.openxmlformats.org/drawingml/2006/main">
              <a:ext uri="{FF2B5EF4-FFF2-40B4-BE49-F238E27FC236}">
                <a16:creationId xmlns:a16="http://schemas.microsoft.com/office/drawing/2014/main" id="{CC6B92DC-53D4-4BDB-AD25-CF51335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024F7D-D4FB-478C-A1ED-811F781B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端到端管线把设计问题转化为可执行实验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E7A520-5FFB-4F3F-BECB-9480BD72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BD97402-5B72-4281-AE44-E0B0CAD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stage-1">
            <a:extLst xmlns:a="http://schemas.openxmlformats.org/drawingml/2006/main">
              <a:ext uri="{FF2B5EF4-FFF2-40B4-BE49-F238E27FC236}">
                <a16:creationId xmlns:a16="http://schemas.microsoft.com/office/drawing/2014/main" id="{BB76BFEB-5DA3-4D13-955B-5A1127B0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9029995-2FB9-4B23-8F3F-8BAC8BA8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5AFFDD-4DA3-4BC0-A068-1419516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14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Describe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3E6BE02-B4D2-462E-AAF0-72DBA455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2A8D3BEE-E02D-4336-A5F1-2A47FD2C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0500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E84100-7957-4920-B7E7-00403A46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19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AD906D-FAA4-4BB9-9140-E6CA05C5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14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179E4F-FE00-4B18-B131-A9B6AB8C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成功条件与约束</a:t>
            </a:r>
          </a:p>
        </p:txBody>
      </p:sp>
      <p:sp>
        <p:nvSpPr>
          <p:cNvPr id="13" name="stage-3">
            <a:extLst xmlns:a="http://schemas.openxmlformats.org/drawingml/2006/main">
              <a:ext uri="{FF2B5EF4-FFF2-40B4-BE49-F238E27FC236}">
                <a16:creationId xmlns:a16="http://schemas.microsoft.com/office/drawing/2014/main" id="{6C653BFB-ECD4-4FC9-8D9C-F5F99AFB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98B8403-25E7-4CB3-BFAC-BB634A0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19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6C8329-340C-44A9-875D-B3357C51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14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World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D8D9104-BD85-44A7-8079-32DA6D6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86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Fixtures + Cases</a:t>
            </a:r>
          </a:p>
        </p:txBody>
      </p:sp>
      <p:sp>
        <p:nvSpPr>
          <p:cNvPr id="17" name="stage-4">
            <a:extLst xmlns:a="http://schemas.openxmlformats.org/drawingml/2006/main">
              <a:ext uri="{FF2B5EF4-FFF2-40B4-BE49-F238E27FC236}">
                <a16:creationId xmlns:a16="http://schemas.microsoft.com/office/drawing/2014/main" id="{A736E59E-C052-41F9-AC10-8C44F251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90500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C79B2C-CCE9-4CDF-8B00-32937802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19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4BCC994-1894-4B95-9E97-F93BEEC5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14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CrewIR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1674F19-D51D-4E93-9618-4E8ECF6E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86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Agents + Tasks</a:t>
            </a:r>
          </a:p>
        </p:txBody>
      </p:sp>
      <p:sp>
        <p:nvSpPr>
          <p:cNvPr id="21" name="stage-5">
            <a:extLst xmlns:a="http://schemas.openxmlformats.org/drawingml/2006/main">
              <a:ext uri="{FF2B5EF4-FFF2-40B4-BE49-F238E27FC236}">
                <a16:creationId xmlns:a16="http://schemas.microsoft.com/office/drawing/2014/main" id="{66A4D1B2-7746-4AFA-8D84-48535737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0500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0FACF2C-58D6-4F8F-878E-CDF587D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19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9C1F1B2-F4BA-4844-97BC-02D34401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Compile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A3E94CC-A99B-46C7-8A94-23102E9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8605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AgentFlow V2</a:t>
            </a:r>
          </a:p>
        </p:txBody>
      </p:sp>
      <p:sp>
        <p:nvSpPr>
          <p:cNvPr id="25" name="stage-6">
            <a:extLst xmlns:a="http://schemas.openxmlformats.org/drawingml/2006/main">
              <a:ext uri="{FF2B5EF4-FFF2-40B4-BE49-F238E27FC236}">
                <a16:creationId xmlns:a16="http://schemas.microsoft.com/office/drawing/2014/main" id="{E764283A-7AAF-4939-96D5-004E4A9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E56EF048-34DA-4105-9E97-7BCE9E0C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02D3F11-F286-4953-84B7-02B0C4F6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67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Preflight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90D10A1-D889-41A5-8B0E-5523C92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执行就绪检查</a:t>
            </a:r>
          </a:p>
        </p:txBody>
      </p:sp>
      <p:sp>
        <p:nvSpPr>
          <p:cNvPr id="29" name="stage-7">
            <a:extLst xmlns:a="http://schemas.openxmlformats.org/drawingml/2006/main">
              <a:ext uri="{FF2B5EF4-FFF2-40B4-BE49-F238E27FC236}">
                <a16:creationId xmlns:a16="http://schemas.microsoft.com/office/drawing/2014/main" id="{726FEF05-6B77-41DD-8CE9-FE5E7B9E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5765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9C38B32-5095-4F92-9F76-F2D3FC01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21E29CA-4837-4B47-91DC-1EDCE148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67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Dev Run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CFF60EE-B49F-4E0F-BFD6-0B7A33B0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38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轨迹与工具调用</a:t>
            </a:r>
          </a:p>
        </p:txBody>
      </p:sp>
      <p:sp>
        <p:nvSpPr>
          <p:cNvPr id="33" name="stage-8">
            <a:extLst xmlns:a="http://schemas.openxmlformats.org/drawingml/2006/main">
              <a:ext uri="{FF2B5EF4-FFF2-40B4-BE49-F238E27FC236}">
                <a16:creationId xmlns:a16="http://schemas.microsoft.com/office/drawing/2014/main" id="{5F2F7C80-AD67-4670-AF93-F06DB14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5765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9040592-6070-4D8E-8245-81FDB561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1F9E6C2-68E7-4418-BF97-740CA46C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67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Evaluate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2248A82-1991-4226-B7F2-33A0949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838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断言 + Rubric</a:t>
            </a:r>
          </a:p>
        </p:txBody>
      </p:sp>
      <p:sp>
        <p:nvSpPr>
          <p:cNvPr id="37" name="stage-9">
            <a:extLst xmlns:a="http://schemas.openxmlformats.org/drawingml/2006/main">
              <a:ext uri="{FF2B5EF4-FFF2-40B4-BE49-F238E27FC236}">
                <a16:creationId xmlns:a16="http://schemas.microsoft.com/office/drawing/2014/main" id="{AF8F11BE-BD65-4CF8-8E5F-1D254BA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05765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44069DD-708B-475E-8BAC-9C9D499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F93804FF-0B9D-4662-B595-8FC5510B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67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Search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CE2FDF0-6DDE-443D-85A1-11A0966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38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Operator 候选</a:t>
            </a:r>
          </a:p>
        </p:txBody>
      </p:sp>
      <p:sp>
        <p:nvSpPr>
          <p:cNvPr id="41" name="stage-10">
            <a:extLst xmlns:a="http://schemas.openxmlformats.org/drawingml/2006/main">
              <a:ext uri="{FF2B5EF4-FFF2-40B4-BE49-F238E27FC236}">
                <a16:creationId xmlns:a16="http://schemas.microsoft.com/office/drawing/2014/main" id="{7DD8B8D2-C1CF-4603-B548-5396E907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57650"/>
            <a:ext cx="18478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B32DD1B-390F-4FF2-B1BF-5AF4A99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EBCCED6F-D2B8-4A9F-9D0E-BBA85ED4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67225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5845DCFD-BA97-45E2-8339-DA5EA96A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838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Pareto + Held-out</a:t>
            </a:r>
          </a:p>
        </p:txBody>
      </p:sp>
      <p:cxnSp>
        <p:nvCxnSpPr>
          <p:cNvPr id="100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47900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524375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00850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077325" y="25050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1323975" y="3105150"/>
            <a:ext cx="910590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2247900" y="46577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524375" y="46577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800850" y="46577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37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077325" y="46577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AAFDEB1D-2EA4-4722-B72A-8E78C4AD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设计阶段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83F1A430-18C4-4706-B25B-F16AE4C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实验与优化阶段</a:t>
            </a:r>
          </a:p>
        </p:txBody>
      </p:sp>
    </p:spTree>
    <p:extLst>
      <p:ext uri="{BB962C8B-B14F-4D97-AF65-F5344CB8AC3E}">
        <p14:creationId xmlns:p14="http://schemas.microsoft.com/office/powerpoint/2010/main" val="9911824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D7BFDA45-7A9E-465B-AD87-FFDF7D56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30A59B-F3F8-472C-AE25-D59A834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Fixtures 把外部世界变成可重复的实验条件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BA525-004E-4A2B-AD13-0FA30BEC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3C2B7F5-CFE4-43FD-8E31-0A7ABFA6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A77B7EF-7C0F-42E2-8AFC-7779CDF2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声明式工具规范</a:t>
            </a:r>
          </a:p>
        </p:txBody>
      </p:sp>
      <p:sp>
        <p:nvSpPr>
          <p:cNvPr id="6" name="fixture-code">
            <a:extLst xmlns:a="http://schemas.openxmlformats.org/drawingml/2006/main">
              <a:ext uri="{FF2B5EF4-FFF2-40B4-BE49-F238E27FC236}">
                <a16:creationId xmlns:a16="http://schemas.microsoft.com/office/drawing/2014/main" id="{E7284021-0928-413A-8FAB-5B7F8AE3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953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1E6C42-C2EC-4E30-917A-55F90525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4196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check_order(order_id)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match: { order_id: "A-1187" 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result: { status: "shipped", carrier: "DHL"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match: { order_id: "B-2000" }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error: "Order service timed out"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fallback: { status: "not_found" }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623F8F-7CB3-4C62-9B99-8522CD00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76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运行时匹配优先级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8E2710-BC6B-4EBD-8338-8728309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CEE4AA-FBA1-47C5-BA6E-D5FC0E6C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Exact match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0772B74-8434-4AEF-8884-C0C42E9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标识符完全相等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3BF16-9255-4C21-9D04-869375CB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2F3F94D-9D5F-4908-83FA-53D4DE5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57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D602BD-EBE2-4E86-8424-9CF4C3C1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Containment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2C02838-E40E-47DC-8A22-6903FE2F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自由文本包含短关键词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CD67A-8CE9-422B-8ECC-A9B2834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0EA784E-76C0-40DE-BCDF-D55D0A30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19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DC2D6B4-AA76-4E44-94C5-3946138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Catch-all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C7171E-4A87-4406-90C7-AFE7216E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空 match 处理动作型工具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B4E60-33F8-466D-8D30-6A8A3FAB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76700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B0B2690-DE9D-44C3-9EC5-4E48A1C1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815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1FE42DD-D8F9-41A4-96AA-7E0F1478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Fallback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43CB046-82D7-4DAB-BCC9-26A864EF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81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返回 not_found 或 error</a:t>
            </a:r>
          </a:p>
        </p:txBody>
      </p:sp>
      <p:sp>
        <p:nvSpPr>
          <p:cNvPr id="24" name="fixture-takeaway">
            <a:extLst xmlns:a="http://schemas.openxmlformats.org/drawingml/2006/main">
              <a:ext uri="{FF2B5EF4-FFF2-40B4-BE49-F238E27FC236}">
                <a16:creationId xmlns:a16="http://schemas.microsoft.com/office/drawing/2014/main" id="{5C235560-0A13-4F9A-A1C3-4E9ABECD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5562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5F85BFF-5425-46E5-9EE4-BBAA92C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518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同一输入 → 同一工具结果；因此 tool_called 与 grounded 可以客观判定。</a:t>
            </a:r>
          </a:p>
        </p:txBody>
      </p:sp>
    </p:spTree>
    <p:extLst>
      <p:ext uri="{BB962C8B-B14F-4D97-AF65-F5344CB8AC3E}">
        <p14:creationId xmlns:p14="http://schemas.microsoft.com/office/powerpoint/2010/main" val="446529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773EF99-3193-4644-820C-8A5FD7BA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8CBF8D-33CC-4BF7-AD20-42468DF2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CrewIR：语义设计到 Flowise 执行图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0620C-2516-4452-BACC-037862CC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34E008B-5696-4B72-BD0C-6642431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ir-definition">
            <a:extLst xmlns:a="http://schemas.openxmlformats.org/drawingml/2006/main">
              <a:ext uri="{FF2B5EF4-FFF2-40B4-BE49-F238E27FC236}">
                <a16:creationId xmlns:a16="http://schemas.microsoft.com/office/drawing/2014/main" id="{065F1D8D-C710-44E6-8767-2F7E47A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9433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27272BB-207F-49E0-B280-03DCF6B5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CrewIR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609F0DE-76C7-480C-863F-92FB6F8B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34290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process: parallel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agents: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order_agent → check_order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reply_agent → no tools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tasks: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lookup_order</a:t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write_reply dependsOn lookup_order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finalTaskId: write_reply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8B9825B-62B9-4D29-8F43-C5E1CB4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确定性</a:t>
            </a:r>
          </a:p>
          <a:p xmlns:a="http://schemas.openxmlformats.org/drawingml/2006/main">
            <a:pPr algn="ctr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编译器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034BA-DB8E-45C7-8A8C-950C1D8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576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flow-start">
            <a:extLst xmlns:a="http://schemas.openxmlformats.org/drawingml/2006/main">
              <a:ext uri="{FF2B5EF4-FFF2-40B4-BE49-F238E27FC236}">
                <a16:creationId xmlns:a16="http://schemas.microsoft.com/office/drawing/2014/main" id="{BA757FB5-D8FC-458C-BF85-6276E52D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47850"/>
            <a:ext cx="1409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5C0F28-244B-49D1-97EF-3D2DF167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Start</a:t>
            </a:r>
          </a:p>
        </p:txBody>
      </p:sp>
      <p:sp>
        <p:nvSpPr>
          <p:cNvPr id="12" name="flow-order">
            <a:extLst xmlns:a="http://schemas.openxmlformats.org/drawingml/2006/main">
              <a:ext uri="{FF2B5EF4-FFF2-40B4-BE49-F238E27FC236}">
                <a16:creationId xmlns:a16="http://schemas.microsoft.com/office/drawing/2014/main" id="{82E57F8F-A9DB-4E4B-9C87-A4FBA9D1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1717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AC5051F-4F4C-4856-9CEB-77DCF99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Agent · 查询订单</a:t>
            </a:r>
          </a:p>
        </p:txBody>
      </p:sp>
      <p:sp>
        <p:nvSpPr>
          <p:cNvPr id="14" name="flow-reply">
            <a:extLst xmlns:a="http://schemas.openxmlformats.org/drawingml/2006/main">
              <a:ext uri="{FF2B5EF4-FFF2-40B4-BE49-F238E27FC236}">
                <a16:creationId xmlns:a16="http://schemas.microsoft.com/office/drawing/2014/main" id="{C8F4A19E-B01E-45D2-800F-4F6B38D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0249E54-DDED-459A-8238-6B5A91C4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LLM · 生成回复</a:t>
            </a:r>
          </a:p>
        </p:txBody>
      </p:sp>
      <p:sp>
        <p:nvSpPr>
          <p:cNvPr id="16" name="flow-direct">
            <a:extLst xmlns:a="http://schemas.openxmlformats.org/drawingml/2006/main">
              <a:ext uri="{FF2B5EF4-FFF2-40B4-BE49-F238E27FC236}">
                <a16:creationId xmlns:a16="http://schemas.microsoft.com/office/drawing/2014/main" id="{E8F0721F-6B06-455C-B3DE-9EA69F8C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62500"/>
            <a:ext cx="200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555B3CB-17F3-4A53-AAFA-CCF5A86A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895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Direct Reply</a:t>
            </a:r>
          </a:p>
        </p:txBody>
      </p:sp>
      <p:cxnSp>
        <p:nvCxnSpPr>
          <p:cNvPr id="40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791450" y="24003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77300" y="34766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410825" y="38100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7BD211F-1DB0-4F7C-9525-2A71F47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81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LLM 负责“谁做什么”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5EA9161-7A19-4D84-A5BC-66BEB80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816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编译器负责 nodes / edges / handles</a:t>
            </a:r>
          </a:p>
        </p:txBody>
      </p:sp>
    </p:spTree>
    <p:extLst>
      <p:ext uri="{BB962C8B-B14F-4D97-AF65-F5344CB8AC3E}">
        <p14:creationId xmlns:p14="http://schemas.microsoft.com/office/powerpoint/2010/main" val="18332903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B5EA9B83-F3E1-4E4E-8BEB-1B05DE63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819FCC-06C5-404D-A256-26F9AA2C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编译器把模型常见错误提前修复，而不是留到运行时失败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10443-B09A-4156-90BB-74B1DDBE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E99E037E-FC23-4697-B495-0AD7BBF6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46222-CD23-4AAA-A1AA-6039B8C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9848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09587606-6A9D-4EB5-908E-B47E25D0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1523216-F270-4E29-B267-9D2BFDFB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01 · Normalize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B8DDFA3-4CDF-43B4-9D09-88CAE2D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删除悬空依赖与不存在的工具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重命名重复 outputKey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修复 routed 分支入口和孤立终点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D78AA160-D748-4873-9928-B9267469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81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2FAC79-AB81-49EC-819E-331B25E9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050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· Compile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F88E58E-D052-4BFB-97EA-6483DB4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工具任务 → Agent 节点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纯推理任务 → LLM 节点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依赖 → edges；final → Direct Reply</a:t>
            </a:r>
          </a:p>
        </p:txBody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A720BE10-AC3D-42D2-B645-5A429B9F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81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EEB51C2-430F-4962-974E-A88E32A8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03 · Assert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120FBF7-EFF0-4488-A95D-8F91CAC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恰好一个 Start / Direct Reply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所有模型已绑定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DAG 无环且所有路径汇聚</a:t>
            </a:r>
          </a:p>
        </p:txBody>
      </p:sp>
      <p:sp>
        <p:nvSpPr>
          <p:cNvPr id="15" name="compiler-takeaway">
            <a:extLst xmlns:a="http://schemas.openxmlformats.org/drawingml/2006/main">
              <a:ext uri="{FF2B5EF4-FFF2-40B4-BE49-F238E27FC236}">
                <a16:creationId xmlns:a16="http://schemas.microsoft.com/office/drawing/2014/main" id="{ADD0BA06-9178-4A44-A015-F4DE55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6571B2-67E4-4821-AF90-0EE316C3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101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不可安全修复的错误（如循环依赖）才会阻止编译；图级不变量在执行前完成证明。</a:t>
            </a:r>
          </a:p>
        </p:txBody>
      </p:sp>
    </p:spTree>
    <p:extLst>
      <p:ext uri="{BB962C8B-B14F-4D97-AF65-F5344CB8AC3E}">
        <p14:creationId xmlns:p14="http://schemas.microsoft.com/office/powerpoint/2010/main" val="12582534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FC2870F7-4C25-4DB0-B8C5-47C99F9F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B75137-FBF0-48B1-AA6C-6059F885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双层评测：语言合理不代表行为正确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7F6AE-F73D-4D9E-850E-B36F4CF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D290C71-7DAA-4C74-A843-192020A2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3791A0-EA64-49E0-B469-C055E4C8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Final score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AE06EE6-3687-49AB-9726-DB5CC79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0.6 × Assertions  +  0.4 × Rubric</a:t>
            </a:r>
          </a:p>
        </p:txBody>
      </p:sp>
      <p:sp>
        <p:nvSpPr>
          <p:cNvPr id="7" name="hard-eval">
            <a:extLst xmlns:a="http://schemas.openxmlformats.org/drawingml/2006/main">
              <a:ext uri="{FF2B5EF4-FFF2-40B4-BE49-F238E27FC236}">
                <a16:creationId xmlns:a16="http://schemas.microsoft.com/office/drawing/2014/main" id="{02BEB4D1-A678-4DE2-8207-4DF29BD5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238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0688A1C-4D73-4174-BD89-9820FD5C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确定性硬断言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4DF3590-D982-49F4-9769-3682654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4762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tool_called / tool_not_called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tool_succeeded / output_matches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grounded：工具无数据时禁止事实性声明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Critical 失败 → 用例直接失败</a:t>
            </a:r>
          </a:p>
        </p:txBody>
      </p:sp>
      <p:sp>
        <p:nvSpPr>
          <p:cNvPr id="10" name="soft-eval">
            <a:extLst xmlns:a="http://schemas.openxmlformats.org/drawingml/2006/main">
              <a:ext uri="{FF2B5EF4-FFF2-40B4-BE49-F238E27FC236}">
                <a16:creationId xmlns:a16="http://schemas.microsoft.com/office/drawing/2014/main" id="{F08CB042-51CE-45A8-907E-F8B0E4E0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55626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98144B-B1E1-4742-92DB-73009530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67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LLM Rubric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DC8A0AB-4E41-4F74-80C1-8C1E3A4D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完整性 30%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正确性 30%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安全性 25%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可用性 15%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86B8C95-7F66-4CAC-A850-3C395D6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只评估需要语义判断的部分；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不重复判断已经被程序证明的工具行为。</a:t>
            </a:r>
          </a:p>
        </p:txBody>
      </p:sp>
      <p:sp>
        <p:nvSpPr>
          <p:cNvPr id="14" name="hallucination-example">
            <a:extLst xmlns:a="http://schemas.openxmlformats.org/drawingml/2006/main">
              <a:ext uri="{FF2B5EF4-FFF2-40B4-BE49-F238E27FC236}">
                <a16:creationId xmlns:a16="http://schemas.microsoft.com/office/drawing/2014/main" id="{7E3BF678-F49B-4112-8ECA-78D79B3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163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D64D4D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37E102A-F0C2-4963-AC2B-DE95F332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95950"/>
            <a:ext cx="1078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4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64D4D"/>
                </a:solidFill>
                <a:latin typeface="Microsoft YaHei"/>
                <a:ea typeface="Microsoft YaHei"/>
                <a:cs typeface="Microsoft YaHei"/>
              </a:rPr>
              <a:t>例：没有调用 check_order 却回答“订单已发货” → critical grounded violation，即使语言很流畅也不能通过。</a:t>
            </a:r>
          </a:p>
        </p:txBody>
      </p:sp>
    </p:spTree>
    <p:extLst>
      <p:ext uri="{BB962C8B-B14F-4D97-AF65-F5344CB8AC3E}">
        <p14:creationId xmlns:p14="http://schemas.microsoft.com/office/powerpoint/2010/main" val="1861495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9E6BBC50-5663-467D-B742-BE47C013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0D02E5-237D-40CC-950F-9AD932E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合法 CrewIR 邻域搜索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6911B-D8D9-4910-8299-52556BC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A28329C-3AE7-4304-B0DF-DF9A0669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AC99983-8573-4D41-8C14-41B28747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每一轮</a:t>
            </a:r>
          </a:p>
        </p:txBody>
      </p:sp>
      <p:sp>
        <p:nvSpPr>
          <p:cNvPr id="6" name="search-parent">
            <a:extLst xmlns:a="http://schemas.openxmlformats.org/drawingml/2006/main">
              <a:ext uri="{FF2B5EF4-FFF2-40B4-BE49-F238E27FC236}">
                <a16:creationId xmlns:a16="http://schemas.microsoft.com/office/drawing/2014/main" id="{3F5AEB23-1A3C-4B4D-BCAF-E3ACB4F5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C6DBC60-83EC-498D-B790-526315F6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当前最健康 Crew</a:t>
            </a:r>
          </a:p>
        </p:txBody>
      </p:sp>
      <p:sp>
        <p:nvSpPr>
          <p:cNvPr id="8" name="search-evidence">
            <a:extLst xmlns:a="http://schemas.openxmlformats.org/drawingml/2006/main">
              <a:ext uri="{FF2B5EF4-FFF2-40B4-BE49-F238E27FC236}">
                <a16:creationId xmlns:a16="http://schemas.microsoft.com/office/drawing/2014/main" id="{7126D019-2551-475F-B6E2-6A13880D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B76056-DADD-4F62-A680-9B8F599C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1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Observed Evidence</a:t>
            </a:r>
          </a:p>
        </p:txBody>
      </p:sp>
      <p:sp>
        <p:nvSpPr>
          <p:cNvPr id="10" name="search-ops">
            <a:extLst xmlns:a="http://schemas.openxmlformats.org/drawingml/2006/main">
              <a:ext uri="{FF2B5EF4-FFF2-40B4-BE49-F238E27FC236}">
                <a16:creationId xmlns:a16="http://schemas.microsoft.com/office/drawing/2014/main" id="{4C38F9B4-4CEA-42A3-839E-5D8ED13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526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D2C991-7A64-4B41-BEBB-E39988D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Legal Operators</a:t>
            </a:r>
          </a:p>
        </p:txBody>
      </p:sp>
      <p:sp>
        <p:nvSpPr>
          <p:cNvPr id="12" name="search-trials">
            <a:extLst xmlns:a="http://schemas.openxmlformats.org/drawingml/2006/main">
              <a:ext uri="{FF2B5EF4-FFF2-40B4-BE49-F238E27FC236}">
                <a16:creationId xmlns:a16="http://schemas.microsoft.com/office/drawing/2014/main" id="{6FA3B424-6181-4526-8C6E-2B3CC5F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526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E3DCB49-C150-46BD-BBCC-DAB515E4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47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Compile → Run → Score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00300" y="25431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43500" y="25431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25431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2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1400175" y="2933700"/>
            <a:ext cx="8420100" cy="0"/>
          </a:xfrm>
          <a:prstGeom xmlns:a="http://schemas.openxmlformats.org/drawingml/2006/main" prst="curvedConnector2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tailEnd type="triangle" w="sm" len="sm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2F93678-2AEC-4177-B83A-52C23DFC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三种可比较策略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985368-9F1C-4CA7-AB2F-F34E85AC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Random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F68CB40-3DDA-4C7C-8422-4BD0EE94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固定 seed，从同一合法邻域均匀抽样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08A29E-5DA6-458E-8964-E097858B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Greedy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E7856C6-3E08-4B1F-833D-84099BB0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05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静态先验：失败时买质量，健康后买效率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F73E02-9D1D-40D4-8308-600AC848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43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Evidence-guided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706F43B-8BF6-4BD7-91C8-9D01452A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05300"/>
            <a:ext cx="352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LLM 只能从合法 operator 列表中选择，并可生成 prompt patch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22844-B115-4C65-95D1-75649A18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ED3B5AC-722D-4731-A023-2C5430E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11163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最终选择：先通过 feasibility gate，再保留 Quality↑ / Cost↓ / Latency↓ 的 Pareto 前沿。</a:t>
            </a:r>
          </a:p>
        </p:txBody>
      </p:sp>
    </p:spTree>
    <p:extLst>
      <p:ext uri="{BB962C8B-B14F-4D97-AF65-F5344CB8AC3E}">
        <p14:creationId xmlns:p14="http://schemas.microsoft.com/office/powerpoint/2010/main" val="6548231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9067F266-5EAC-41E4-BEA5-D201D431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73302A-FB80-4A22-865C-63D6E963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底层运行时增强保证实验可信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603A4-51A3-499B-BAF5-96C9CED7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4812BC9-9737-4007-9A2D-91D9F420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AB4A9F-3B2F-4376-8A29-7BB531F9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CD8635-AD67-40E8-A31F-AF93B34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71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输入传播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25B5790-7514-4C36-9C18-E2D5E74A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716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下游 Agent / LLM 若没有 user message，使用当前 runtime input 兜底，避免只收到 system prompt。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B625E-4C43-44F7-B04F-C75B8532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349ED22-1B65-4FF3-BF44-044371BC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D1472F3-6450-4215-A19C-C889289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Telemetry 保留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4515CB-00FE-4275-ABFD-543939DB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Structured output 使用 includeRaw，保留 usage metadata、response metadata 与 parsed result。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469ED-011D-4934-B5A4-30DB33C7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BC3E3C2-374A-4C65-BD9B-81E225E7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563AE81-BF77-4E04-820F-C8F8BFF2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安全并行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F5F2BFC-8B69-45D9-AEDA-11F616E8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仅并行无 memory、无工具副作用、同依赖前沿且 state writes 不冲突的兄弟节点。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33AA2-9175-4E46-B811-AEE05CE4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1B11F94-FC14-4878-8D02-4344B7B1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4B2541A-604D-4726-BC3F-49829CB1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停止与超时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679C9E1-1493-4935-9C4E-7E5E1B52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跟踪每个 runId，Stop 会请求服务端 abort；生成、评测和执行都有明确 timeout。</a:t>
            </a:r>
          </a:p>
        </p:txBody>
      </p:sp>
    </p:spTree>
    <p:extLst>
      <p:ext uri="{BB962C8B-B14F-4D97-AF65-F5344CB8AC3E}">
        <p14:creationId xmlns:p14="http://schemas.microsoft.com/office/powerpoint/2010/main" val="9447766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F1DD5020-31BC-4CA1-A9D8-56BB3191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7ED3E0-AEB4-4D8D-9C33-8AA54FCB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验证覆盖从纯函数单测延伸到真实 Flowise 组件池与沙箱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5EF34-7348-4960-96A9-FB5F3422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06E0A07-076A-4C62-8C0B-80A5BADF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4CA830F-EE16-4CA3-AE51-471AC579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本地验证结果 · 2026-08-26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BC16E2C6-2D64-40B2-A3D2-314951CE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53B509F-3511-4520-8F22-0A0C0A3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733AB96-B97D-4707-9E2F-BD4A1799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总检查通过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4C070B-9684-4E95-A360-7B3E1B2B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0 failed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FA18F2FD-A2AF-4B83-9D80-80524EA3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050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66D19C5-D550-48AE-9986-4851416E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670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113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347EBC7-3227-4757-96B0-A346EA5C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33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6316E0-278F-4A8A-A2BF-DAF81DEB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910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96 server + 17 UI</a:t>
            </a:r>
          </a:p>
        </p:txBody>
      </p:sp>
      <p:sp>
        <p:nvSpPr>
          <p:cNvPr id="14" name="metric-2">
            <a:extLst xmlns:a="http://schemas.openxmlformats.org/drawingml/2006/main">
              <a:ext uri="{FF2B5EF4-FFF2-40B4-BE49-F238E27FC236}">
                <a16:creationId xmlns:a16="http://schemas.microsoft.com/office/drawing/2014/main" id="{19B5F729-54B8-45A1-B27F-729C8D0F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562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225C6DE-3EE9-45B1-A36A-4277F27E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3028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BF4086E-3CB6-4FF0-9BE4-8B3FDC62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真实集成检查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9C8A52F-DDEF-4EB7-A408-C916A2D3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component pool + sandbox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8BE7F06-E1F3-402B-BE7C-C2DCCB74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300 Flowise components loaded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A1A7A98-AD77-4B55-9D27-8D6BF51D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14 legal operators compiled in integration harness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1A48E12-182B-4471-9412-EEF99D78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fixtures · grounded · graph invariants · parallel state merge</a:t>
            </a:r>
          </a:p>
        </p:txBody>
      </p:sp>
    </p:spTree>
    <p:extLst>
      <p:ext uri="{BB962C8B-B14F-4D97-AF65-F5344CB8AC3E}">
        <p14:creationId xmlns:p14="http://schemas.microsoft.com/office/powerpoint/2010/main" val="1303031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60C0482-2B96-44D7-98C3-B21BEE5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WORKFLOW AUTOPILOT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A29DB6-B72C-4786-9055-B9796BB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当前限制明确了下一阶段最有价值的实验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C9B47-1AFD-44F8-9C64-BEE549B7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DB68E70-3F49-46CA-8BB6-D8DAEE4C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3D3FFE-ADF9-4B12-8429-F805CBA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4264DA-76B4-4F98-891E-405CD2A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687B289-2B9B-4691-9133-6B9C8B6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生成图未主动设置 startMaxConcurrency，默认仍为 1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带工具 Agent 被安全调度器保留在串行路径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部分已实现 operator 尚未进入自动枚举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Held-out 只用于报告，不影响推荐选择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未配置 cheap model 时 downgrade 会回退默认模型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• Session 清理不删除候选 Flow 与模拟工具记录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3B5095C-10D1-4063-B58A-3D7710A3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3149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比较串行与受控并行的端到端延迟收益</a:t>
            </a:r>
          </a:p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为只读工具建立 side-effect taxonomy 与并发许可</a:t>
            </a:r>
          </a:p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补全 operator 枚举并做逐算子 ablation</a:t>
            </a:r>
          </a:p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加入 held-out-aware selection 或稳定性门槛</a:t>
            </a:r>
          </a:p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将模型可用性纳入合法邻域生成</a:t>
            </a:r>
          </a:p>
          <a:p xmlns:a="http://schemas.openxmlformats.org/drawingml/2006/main">
            <a:pPr algn="l">
              <a:def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794E"/>
                </a:solidFill>
                <a:latin typeface="Microsoft YaHei"/>
                <a:ea typeface="Microsoft YaHei"/>
                <a:cs typeface="Microsoft YaHei"/>
              </a:rPr>
              <a:t>• 增加实验生命周期与自动清理机制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FA069-11A4-49C3-A7A3-D89D1E9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0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limitations-takeaway">
            <a:extLst xmlns:a="http://schemas.openxmlformats.org/drawingml/2006/main">
              <a:ext uri="{FF2B5EF4-FFF2-40B4-BE49-F238E27FC236}">
                <a16:creationId xmlns:a16="http://schemas.microsoft.com/office/drawing/2014/main" id="{77488993-D907-4BFE-89E9-EBB2C8F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163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7081E53-DB66-45D0-8BA8-8084F7B1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81675"/>
            <a:ext cx="1078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研究价值：这些限制都可以转化为可测量的消融或对照实验，而不是只做工程修补。</a:t>
            </a:r>
          </a:p>
        </p:txBody>
      </p:sp>
    </p:spTree>
    <p:extLst>
      <p:ext uri="{BB962C8B-B14F-4D97-AF65-F5344CB8AC3E}">
        <p14:creationId xmlns:p14="http://schemas.microsoft.com/office/powerpoint/2010/main" val="1800831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C05F85C-B55D-4C8D-9DEE-6C410180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F7FB23-ADEE-4EF7-B179-7BE43995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核心贡献不是自动画图，</a:t>
            </a:r>
          </a:p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而是把工作流设计变成可执行实验。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0CB55-75FF-4176-8831-995B1451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52E9685-D6AB-429B-AF48-2B966C2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可编译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290EF8-E239-45AA-87E5-F413C8B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CrewIR 隔离语义设计与 Flowise 执行格式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9BC5A2-C86A-4346-9DC3-3C11CC2F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86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44D15A9-B5CA-4EF8-90C1-7AA1C94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Fixtures + Assertions 提供可重复的行为证据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435050-859E-4D57-9617-BB9E86C1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可优化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0AA45FB-A526-4B6F-AC56-5937F353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Typed Operators + Pareto 把结构、质量和效率放进同一搜索空间</a:t>
            </a:r>
          </a:p>
        </p:txBody>
      </p:sp>
      <p:sp>
        <p:nvSpPr>
          <p:cNvPr id="10" name="final-claim">
            <a:extLst xmlns:a="http://schemas.openxmlformats.org/drawingml/2006/main">
              <a:ext uri="{FF2B5EF4-FFF2-40B4-BE49-F238E27FC236}">
                <a16:creationId xmlns:a16="http://schemas.microsoft.com/office/drawing/2014/main" id="{9495BB46-ABC8-42CE-9B35-C2B10F77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F5921F8-5084-470C-A731-96C2914F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Workflow Autopilot = Agent Workflow Compiler + Test Harness + Search Controller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BCAEBF1-1E7C-471E-8CE8-765A7D36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21459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2026-08-26T14:13:30.7260000Z</dcterms:created>
  <dcterms:modified xsi:type="dcterms:W3CDTF">2026-08-26T14:13:30.7260000Z</dcterms:modified>
</coreProperties>
</file>